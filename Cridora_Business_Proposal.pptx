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87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solidFill>
            <a:srgbClr val="1717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3931920"/>
            <a:ext cx="3474720" cy="3474720"/>
          </a:xfrm>
          <a:prstGeom prst="ellipse">
            <a:avLst/>
          </a:prstGeom>
          <a:ln w="9525">
            <a:solidFill>
              <a:srgbClr val="C9A84C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BULLION MARKETPLACE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Real Metal. From Anywhere.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 — Precious Metals Trading, Reimagined for the Digital 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Strategic Partners &amp; Investors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6B6142-A653-409E-669E-0DDCAF90F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160" y="-103155"/>
            <a:ext cx="1300501" cy="13005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7AA25C-C93F-C261-5FA6-BDBA6F38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394" y="4063994"/>
            <a:ext cx="3210571" cy="3210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Buying real gold shouldn't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 blind trust.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420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31720"/>
            <a:ext cx="2542032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2461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Market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84048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gold buying in the UAE is still walk-in-store, with no standard way to verify a dealer's credentials or track record.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2331720"/>
            <a:ext cx="25420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2331720"/>
            <a:ext cx="2542032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32461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Pricing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66744" y="384048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vary shop to shop with no live reference price — buyers can't tell a fair deal from a marked-up 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2331720"/>
            <a:ext cx="25420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81344" y="2331720"/>
            <a:ext cx="2542032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2461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Paper, Not Metal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37376" y="384048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gold apps and bank gold accounts often sell a synthetic claim on gold, not real, allocated physical metal.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2331720"/>
            <a:ext cx="25420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51976" y="2331720"/>
            <a:ext cx="2542032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26517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8008" y="324612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Vendors Lack Reach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08008" y="384048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Bullion dealers have limited digital presence and no shared trust or KYC infrastructure to sell credibly online.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6AF25A3-265C-2A29-67D4-A90701200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CRIDORA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trusted marketplace for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real, verified bullion.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Cridora connects KYC-verified buyers directly with KYB-verified UAE bullion dealers — for transparent pricing, real allocated metal, and a guaranteed path to sell back. Cridora never takes custody of the metal itself.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566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/ KYB Verified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720" y="39044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buyer and every dealer is verified before they can transact.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44622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Platform Custody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always stays with the vendor — Cridora is the trust layer, not the vault.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40410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53583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AED Pricing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88720" y="56967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spot-linked pricing replaces opaque, in-store quotes.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086600" y="2148840"/>
            <a:ext cx="4480560" cy="3977640"/>
          </a:xfrm>
          <a:prstGeom prst="rect">
            <a:avLst/>
          </a:prstGeom>
          <a:solidFill>
            <a:srgbClr val="1717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086600" y="2148840"/>
            <a:ext cx="54864" cy="3977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2"/>
          <p:cNvSpPr/>
          <p:nvPr/>
        </p:nvSpPr>
        <p:spPr>
          <a:xfrm>
            <a:off x="73609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18" name="Text 13"/>
          <p:cNvSpPr/>
          <p:nvPr/>
        </p:nvSpPr>
        <p:spPr>
          <a:xfrm>
            <a:off x="74523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not a feature.</a:t>
            </a:r>
            <a:endParaRPr lang="en-US" sz="2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the foundation.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7452360" y="44348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is backed by a verified vendor identity, documented credentials, and a guaranteed buyback mechanism — so buyers commit with confidence.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03FC802-E24F-F7AF-9FA8-C3EB36FFC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verified buyer to real metal —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back again.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184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7" name="Text 5"/>
          <p:cNvSpPr/>
          <p:nvPr/>
        </p:nvSpPr>
        <p:spPr>
          <a:xfrm>
            <a:off x="102184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42" y="283464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KYC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verifies identity to unlock buying.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24228" y="3566160"/>
            <a:ext cx="19202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03454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1630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14" name="Text 11"/>
          <p:cNvSpPr/>
          <p:nvPr/>
        </p:nvSpPr>
        <p:spPr>
          <a:xfrm>
            <a:off x="241630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302" y="2834640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7170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Quotes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17170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live vendor listings &amp; pricing.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18688" y="3566160"/>
            <a:ext cx="19202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42900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1076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21" name="Text 17"/>
          <p:cNvSpPr/>
          <p:nvPr/>
        </p:nvSpPr>
        <p:spPr>
          <a:xfrm>
            <a:off x="381076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762" y="2834640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6616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via Stripe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56616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AED checkout, instant ledger record.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613148" y="3566160"/>
            <a:ext cx="19202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482346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20522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28" name="Text 23"/>
          <p:cNvSpPr/>
          <p:nvPr/>
        </p:nvSpPr>
        <p:spPr>
          <a:xfrm>
            <a:off x="520522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222" y="2834640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6062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 Allocated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96062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metal is allocated at the verified vendor.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2636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SELL-BACK FLOW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26364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64540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35" name="Text 29"/>
          <p:cNvSpPr/>
          <p:nvPr/>
        </p:nvSpPr>
        <p:spPr>
          <a:xfrm>
            <a:off x="664540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402" y="2834640"/>
            <a:ext cx="402336" cy="40233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0080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Live Price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640080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spot-linked sell price shown.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7447788" y="3566160"/>
            <a:ext cx="19202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765810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03986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42" name="Text 35"/>
          <p:cNvSpPr/>
          <p:nvPr/>
        </p:nvSpPr>
        <p:spPr>
          <a:xfrm>
            <a:off x="803986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862" y="2834640"/>
            <a:ext cx="402336" cy="40233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79526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Sell-Back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779526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metal for buyback to original vendor.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8842248" y="3566160"/>
            <a:ext cx="19202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905256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943432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49" name="Text 41"/>
          <p:cNvSpPr/>
          <p:nvPr/>
        </p:nvSpPr>
        <p:spPr>
          <a:xfrm>
            <a:off x="943432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4322" y="2834640"/>
            <a:ext cx="402336" cy="40233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18972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Confirms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918972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reviews &amp; confirms the sell order.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10236708" y="3566160"/>
            <a:ext cx="19202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447020" y="2514600"/>
            <a:ext cx="11658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10828782" y="2313432"/>
            <a:ext cx="402336" cy="402336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56" name="Text 47"/>
          <p:cNvSpPr/>
          <p:nvPr/>
        </p:nvSpPr>
        <p:spPr>
          <a:xfrm>
            <a:off x="1082878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8782" y="2834640"/>
            <a:ext cx="402336" cy="402336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0584180" y="3383280"/>
            <a:ext cx="891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 Out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10584180" y="3886200"/>
            <a:ext cx="89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settled through platform ledger.</a:t>
            </a:r>
            <a:endParaRPr lang="en-US" sz="950" dirty="0"/>
          </a:p>
        </p:txBody>
      </p:sp>
      <p:sp>
        <p:nvSpPr>
          <p:cNvPr id="60" name="Text 5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8E959D-59B6-307D-A256-3F095B851E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marketplace with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market data.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filter listings across gold, silver, platinum, copper, and palladium — priced against live AED spot data, not guesswork.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990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Multi-Vendor Marketplace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7043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filter listings by metal, purity, weight, and vendor — plus wishlist saved items.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587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831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Market Matrix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70432" y="41513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live pricing grid across metals and product types.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000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46725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Price Ticker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70432" y="49926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AED spot price feed for gold, silver, copper, palladium.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541264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55138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Rates Strip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70432" y="5833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retail rates surfaced alongside live spot for context.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903720" y="2103120"/>
            <a:ext cx="4663440" cy="4023360"/>
          </a:xfrm>
          <a:prstGeom prst="rect">
            <a:avLst/>
          </a:prstGeom>
          <a:solidFill>
            <a:srgbClr val="1717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17804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SPOT PRICES (AED / g)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040880" y="2788920"/>
            <a:ext cx="4389120" cy="548640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21" name="Text 15"/>
          <p:cNvSpPr/>
          <p:nvPr/>
        </p:nvSpPr>
        <p:spPr>
          <a:xfrm>
            <a:off x="7178040" y="28620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24K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823960" y="28620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355.20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104120" y="28620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3F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+0.42%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178040" y="34838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22K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823960" y="34838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325.60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104120" y="34838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3F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+0.38%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040880" y="4032504"/>
            <a:ext cx="4389120" cy="548640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28" name="Text 22"/>
          <p:cNvSpPr/>
          <p:nvPr/>
        </p:nvSpPr>
        <p:spPr>
          <a:xfrm>
            <a:off x="7178040" y="41056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823960" y="41056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4.18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0104120" y="41056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0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-0.12%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178040" y="4727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823960" y="47274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112.75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104120" y="47274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3F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+0.65%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040880" y="5276088"/>
            <a:ext cx="4389120" cy="548640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35" name="Text 29"/>
          <p:cNvSpPr/>
          <p:nvPr/>
        </p:nvSpPr>
        <p:spPr>
          <a:xfrm>
            <a:off x="7178040" y="5349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Palladium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8823960" y="5349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98.30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0104120" y="53492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0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-0.28%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2EC24B-50BE-2438-3401-0C84C45BE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purpose-built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centers.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9496" y="2286000"/>
            <a:ext cx="35204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9496" y="2286000"/>
            <a:ext cx="3520440" cy="777240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68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Dashboard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3375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6424" y="32826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purchase history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9044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6424" y="3849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value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7141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6424" y="4416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Sell-back status tracking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4334256" y="2286000"/>
            <a:ext cx="35204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334256" y="2286000"/>
            <a:ext cx="3520440" cy="777240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468880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11496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Dashboard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33756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01184" y="32826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pricing management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90448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01184" y="3849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“Live Sales Desk”</a:t>
            </a:r>
            <a:endParaRPr lang="en-US" sz="11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4471416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901184" y="4416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ledger &amp; PDF exports</a:t>
            </a:r>
            <a:endParaRPr lang="en-US" sz="11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5038344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901184" y="4983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bank payouts</a:t>
            </a:r>
            <a:endParaRPr lang="en-US" sz="1150" dirty="0"/>
          </a:p>
        </p:txBody>
      </p:sp>
      <p:sp>
        <p:nvSpPr>
          <p:cNvPr id="26" name="Shape 15"/>
          <p:cNvSpPr/>
          <p:nvPr/>
        </p:nvSpPr>
        <p:spPr>
          <a:xfrm>
            <a:off x="8129016" y="2286000"/>
            <a:ext cx="35204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8129016" y="2286000"/>
            <a:ext cx="3520440" cy="777240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2468880"/>
            <a:ext cx="384048" cy="38404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906256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5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3337560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695944" y="32826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KYB review queues</a:t>
            </a:r>
            <a:endParaRPr lang="en-US" sz="115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3904488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695944" y="3849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 cross-payment oversight</a:t>
            </a:r>
            <a:endParaRPr lang="en-US" sz="115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4471416"/>
            <a:ext cx="201168" cy="20116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8695944" y="4416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fee configuration</a:t>
            </a:r>
            <a:endParaRPr lang="en-US" sz="1150" dirty="0"/>
          </a:p>
        </p:txBody>
      </p:sp>
      <p:sp>
        <p:nvSpPr>
          <p:cNvPr id="36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3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B82F063-D831-9066-B29C-DABA378C60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UAE Digital Gold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Tool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calculator that shows prospective buyers, side by side, how Cridora's transparent fees compare to illustrative composite fee models for UAE bank gold accounts, digital gold apps, and retail jewellers.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69417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through radical fee transparency, before a buyer even signs up.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074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3525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an organic lead-generation and SEO asset for acquisition.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6577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50109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the buying decision around real, allocated metal — not just price.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720840" y="2148840"/>
            <a:ext cx="4846320" cy="3977640"/>
          </a:xfrm>
          <a:prstGeom prst="rect">
            <a:avLst/>
          </a:prstGeom>
          <a:solidFill>
            <a:srgbClr val="1717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99516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COST TO OWN (ILLUSTRATIVE)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99516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Cridora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686800" y="2980944"/>
            <a:ext cx="2468880" cy="256032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16" name="Shape 11"/>
          <p:cNvSpPr/>
          <p:nvPr/>
        </p:nvSpPr>
        <p:spPr>
          <a:xfrm>
            <a:off x="8686800" y="2980944"/>
            <a:ext cx="796413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2"/>
          <p:cNvSpPr/>
          <p:nvPr/>
        </p:nvSpPr>
        <p:spPr>
          <a:xfrm>
            <a:off x="6995160" y="35478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Gold Account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686800" y="3602736"/>
            <a:ext cx="2468880" cy="256032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0" y="3602736"/>
            <a:ext cx="2070674" cy="256032"/>
          </a:xfrm>
          <a:prstGeom prst="rect">
            <a:avLst/>
          </a:prstGeom>
          <a:solidFill>
            <a:srgbClr val="C7C4BA"/>
          </a:solidFill>
          <a:ln/>
        </p:spPr>
      </p:sp>
      <p:sp>
        <p:nvSpPr>
          <p:cNvPr id="20" name="Text 15"/>
          <p:cNvSpPr/>
          <p:nvPr/>
        </p:nvSpPr>
        <p:spPr>
          <a:xfrm>
            <a:off x="6995160" y="41696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Gold App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686800" y="4224528"/>
            <a:ext cx="2468880" cy="256032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0" y="4224528"/>
            <a:ext cx="1752108" cy="256032"/>
          </a:xfrm>
          <a:prstGeom prst="rect">
            <a:avLst/>
          </a:prstGeom>
          <a:solidFill>
            <a:srgbClr val="C7C4BA"/>
          </a:solidFill>
          <a:ln/>
        </p:spPr>
      </p:sp>
      <p:sp>
        <p:nvSpPr>
          <p:cNvPr id="23" name="Text 18"/>
          <p:cNvSpPr/>
          <p:nvPr/>
        </p:nvSpPr>
        <p:spPr>
          <a:xfrm>
            <a:off x="6995160" y="47914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Jeweller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686800" y="4846320"/>
            <a:ext cx="2468880" cy="256032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25" name="Shape 20"/>
          <p:cNvSpPr/>
          <p:nvPr/>
        </p:nvSpPr>
        <p:spPr>
          <a:xfrm>
            <a:off x="8686800" y="4846320"/>
            <a:ext cx="2468880" cy="256032"/>
          </a:xfrm>
          <a:prstGeom prst="rect">
            <a:avLst/>
          </a:prstGeom>
          <a:solidFill>
            <a:srgbClr val="C7C4BA"/>
          </a:solidFill>
          <a:ln/>
        </p:spPr>
      </p:sp>
      <p:sp>
        <p:nvSpPr>
          <p:cNvPr id="26" name="Text 21"/>
          <p:cNvSpPr/>
          <p:nvPr/>
        </p:nvSpPr>
        <p:spPr>
          <a:xfrm>
            <a:off x="6995160" y="5577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composite fee models — not offers from named brands.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3F63444-4BFD-CD27-F70C-13CB865D7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—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buyers choose Cridora.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4924" y="2011680"/>
            <a:ext cx="2084832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7300" y="2286000"/>
            <a:ext cx="640080" cy="640080"/>
          </a:xfrm>
          <a:prstGeom prst="ellipse">
            <a:avLst/>
          </a:prstGeom>
          <a:solidFill>
            <a:srgbClr val="0B0B0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4323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Dealers Only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9516" y="38862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is KYB-checked — no more guessing about legitimacy.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3492" y="2011680"/>
            <a:ext cx="2084832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5868" y="2286000"/>
            <a:ext cx="640080" cy="640080"/>
          </a:xfrm>
          <a:prstGeom prst="ellipse">
            <a:avLst/>
          </a:prstGeom>
          <a:solidFill>
            <a:srgbClr val="0B0B0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2432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0652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AED Pricing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58084" y="38862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replaces opaque, in-store quotes.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52060" y="2011680"/>
            <a:ext cx="2084832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74436" y="2286000"/>
            <a:ext cx="640080" cy="640080"/>
          </a:xfrm>
          <a:prstGeom prst="ellipse">
            <a:avLst/>
          </a:prstGeom>
          <a:solidFill>
            <a:srgbClr val="0B0B0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4323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9220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Real, Allocated Metal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16652" y="38862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ownership — not a paper or synthetic claim.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0628" y="2011680"/>
            <a:ext cx="2084832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3004" y="2286000"/>
            <a:ext cx="640080" cy="640080"/>
          </a:xfrm>
          <a:prstGeom prst="ellipse">
            <a:avLst/>
          </a:prstGeom>
          <a:solidFill>
            <a:srgbClr val="0B0B0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08" y="24323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7788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Guaranteed Buyback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75220" y="38862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price-transparent path to sell back to the vendor.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69196" y="2011680"/>
            <a:ext cx="2084832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91572" y="2286000"/>
            <a:ext cx="640080" cy="640080"/>
          </a:xfrm>
          <a:prstGeom prst="ellipse">
            <a:avLst/>
          </a:prstGeom>
          <a:solidFill>
            <a:srgbClr val="0B0B0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7876" y="24323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06356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From Anywhere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33788" y="38862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buyers, metal held securely with a UAE-licensed dealer.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C1B004C-CDD6-29E6-4BD5-2D539EED99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— VENDORS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bullion dealers partner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Cridora.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42032" cy="2926080"/>
          </a:xfrm>
          <a:prstGeom prst="rect">
            <a:avLst/>
          </a:prstGeom>
          <a:solidFill>
            <a:srgbClr val="17171A"/>
          </a:solidFill>
          <a:ln w="635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6888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63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Expanded Buyer Reach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36576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growing pool of verified buyers without spending on independent advertising.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2194560"/>
            <a:ext cx="2542032" cy="2926080"/>
          </a:xfrm>
          <a:prstGeom prst="rect">
            <a:avLst/>
          </a:prstGeom>
          <a:solidFill>
            <a:srgbClr val="17171A"/>
          </a:solidFill>
          <a:ln w="6350">
            <a:solidFill>
              <a:srgbClr val="C9A84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46888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66744" y="3063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Trust Layer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66744" y="36576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a ready-made KYC/KYB layer instead of building compliance infrastructure alone.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81344" y="2194560"/>
            <a:ext cx="2542032" cy="2926080"/>
          </a:xfrm>
          <a:prstGeom prst="rect">
            <a:avLst/>
          </a:prstGeom>
          <a:solidFill>
            <a:srgbClr val="17171A"/>
          </a:solidFill>
          <a:ln w="6350">
            <a:solidFill>
              <a:srgbClr val="C9A84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468880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37376" y="3063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Guaranteed Liquidity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37376" y="36576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platform-supported sell-back mechanism gives vendors a reliable liquidity partner.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951976" y="2194560"/>
            <a:ext cx="2542032" cy="2926080"/>
          </a:xfrm>
          <a:prstGeom prst="rect">
            <a:avLst/>
          </a:prstGeom>
          <a:solidFill>
            <a:srgbClr val="17171A"/>
          </a:solidFill>
          <a:ln w="6350">
            <a:solidFill>
              <a:srgbClr val="C9A84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2468880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08008" y="30632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Sales Desk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208008" y="36576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catalog, pricing, and daily settlement from one operational dashboard.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4C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“Having an app is useful, but being part of a trusted digital ecosystem is far more powerful.”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1F3B118-AF50-450C-3865-80305CAC1C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commission-based marketplace —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inventory risk.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Cridora earns transaction fees on both sides of the trade, plus a small share of vendor liquidity — without ever holding metal inventory or taking custody risk.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2788920"/>
            <a:ext cx="3520440" cy="219456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6" name="Shape 4"/>
          <p:cNvSpPr/>
          <p:nvPr/>
        </p:nvSpPr>
        <p:spPr>
          <a:xfrm>
            <a:off x="539496" y="2788920"/>
            <a:ext cx="35204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13816" y="3703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Buy-Side Fee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" y="4069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every completed buy order.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4256" y="2788920"/>
            <a:ext cx="3520440" cy="219456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1" name="Shape 9"/>
          <p:cNvSpPr/>
          <p:nvPr/>
        </p:nvSpPr>
        <p:spPr>
          <a:xfrm>
            <a:off x="4334256" y="2788920"/>
            <a:ext cx="35204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08576" y="3703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Sell-Back Fee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4069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every guaranteed sell-back order.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9016" y="2788920"/>
            <a:ext cx="3520440" cy="219456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9016" y="2788920"/>
            <a:ext cx="35204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03336" y="3703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Net Share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03336" y="4069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share of each vendor's positive daily net position, retained for sell-back liquidity.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(EOD) settlement mechanics support guaranteed sell-back liquidity — Cridora is the trust and settlement layer, never the custodian.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7F54823-C770-CDEF-C1F0-1B91D9AE0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Anchored in the UAE.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global reach.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Cridora's vendor network is UAE-based and UAE-licensed — but buyers can purchase and hold metal from anywhere in the world.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3127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Bullion Vendors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70432" y="34472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dealers seeking digital distribution &amp; shared trust infrastructure.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507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UAE-Based Buyers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70432" y="4343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and investors buying and storing metal locally.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4690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4919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Investors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70432" y="52395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buyers from India, Pakistan, Europe, the UK, and the US, seeking UAE-held physical metal.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720840" y="2148840"/>
            <a:ext cx="4846320" cy="3977640"/>
          </a:xfrm>
          <a:prstGeom prst="rect">
            <a:avLst/>
          </a:prstGeom>
          <a:solidFill>
            <a:srgbClr val="1717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95160" y="2404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ORIGIN MARKETS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641080" y="2926080"/>
            <a:ext cx="1005840" cy="10058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8" name="Text 13"/>
          <p:cNvSpPr/>
          <p:nvPr/>
        </p:nvSpPr>
        <p:spPr>
          <a:xfrm>
            <a:off x="8641080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4206240"/>
            <a:ext cx="772668" cy="438912"/>
          </a:xfrm>
          <a:prstGeom prst="rect">
            <a:avLst/>
          </a:prstGeom>
          <a:solidFill>
            <a:srgbClr val="222226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040880" y="4206240"/>
            <a:ext cx="7726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996428" y="4206240"/>
            <a:ext cx="1060704" cy="438912"/>
          </a:xfrm>
          <a:prstGeom prst="rect">
            <a:avLst/>
          </a:prstGeom>
          <a:solidFill>
            <a:srgbClr val="222226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996428" y="4206240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240012" y="4206240"/>
            <a:ext cx="868680" cy="438912"/>
          </a:xfrm>
          <a:prstGeom prst="rect">
            <a:avLst/>
          </a:prstGeom>
          <a:solidFill>
            <a:srgbClr val="222226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240012" y="420624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040880" y="4773168"/>
            <a:ext cx="1636776" cy="438912"/>
          </a:xfrm>
          <a:prstGeom prst="rect">
            <a:avLst/>
          </a:prstGeom>
          <a:solidFill>
            <a:srgbClr val="222226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040880" y="4773168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860536" y="4773168"/>
            <a:ext cx="1540764" cy="438912"/>
          </a:xfrm>
          <a:prstGeom prst="rect">
            <a:avLst/>
          </a:prstGeom>
          <a:solidFill>
            <a:srgbClr val="222226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860536" y="4773168"/>
            <a:ext cx="15407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EA89E3F-FCB1-A7D1-5BB6-565A98E6E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Cridora compares.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709159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Cridora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Gold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Gold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Jewellers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allocated physical 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Transparent, live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dealer / KYB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sell-back liquidity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Multi-vendor price competition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platform custody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0B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F54E19-BCF6-A5D9-24ED-9F3BC8D09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7171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717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BULLION, TOGETHER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Cridora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a bullion vendor seeking digital reach, or an investor backing the trust layer for real precious metals ownership — the opportunity starts here.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651760" cy="594360"/>
          </a:xfrm>
          <a:prstGeom prst="rect">
            <a:avLst/>
          </a:prstGeom>
          <a:solidFill>
            <a:srgbClr val="1717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Vendor Partner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4114800"/>
            <a:ext cx="2651760" cy="594360"/>
          </a:xfrm>
          <a:prstGeom prst="rect">
            <a:avLst/>
          </a:prstGeom>
          <a:solidFill>
            <a:srgbClr val="1717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Investment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4114800"/>
            <a:ext cx="2651760" cy="594360"/>
          </a:xfrm>
          <a:prstGeom prst="rect">
            <a:avLst/>
          </a:prstGeom>
          <a:solidFill>
            <a:srgbClr val="1717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349240"/>
            <a:ext cx="7772400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Cridora  |  </a:t>
            </a:r>
            <a:r>
              <a:rPr lang="en-US" sz="1200" dirty="0">
                <a:solidFill>
                  <a:srgbClr val="C7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www.cridora.com|  UAE Bullion Marketplace| +971568761894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CRIDORA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D21CCA-6C9B-E667-4555-8A4650E9C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035" y="-3462"/>
            <a:ext cx="1060965" cy="10609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1198</Words>
  <Application>Microsoft Office PowerPoint</Application>
  <PresentationFormat>Widescreen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Cridora — Business Proposal</dc:title>
  <dc:subject>PptxGenJS Presentation</dc:subject>
  <dc:creator>Cridora</dc:creator>
  <cp:lastModifiedBy>Lagari A</cp:lastModifiedBy>
  <cp:revision>4</cp:revision>
  <dcterms:created xsi:type="dcterms:W3CDTF">2026-07-15T17:47:45Z</dcterms:created>
  <dcterms:modified xsi:type="dcterms:W3CDTF">2026-07-16T08:20:17Z</dcterms:modified>
</cp:coreProperties>
</file>