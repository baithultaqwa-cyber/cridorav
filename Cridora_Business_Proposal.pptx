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48769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4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3291840"/>
            <a:ext cx="4754880" cy="4754880"/>
          </a:xfrm>
          <a:prstGeom prst="ellipse">
            <a:avLst/>
          </a:prstGeom>
          <a:solidFill>
            <a:srgbClr val="17171A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3931920"/>
            <a:ext cx="3474720" cy="3474720"/>
          </a:xfrm>
          <a:prstGeom prst="ellipse">
            <a:avLst/>
          </a:prstGeom>
          <a:ln w="9525">
            <a:solidFill>
              <a:srgbClr val="C9A84C"/>
            </a:solidFill>
            <a:prstDash val="sysDot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 BULLION MARKETPLACE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kern="0" spc="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4CE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Real Metal. From Anywhere.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2062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Proposal — Precious Metals Trading, Reimagined for the Digital Age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5989320"/>
            <a:ext cx="2011680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080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Strategic Partners &amp; Investors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Buying real gold shouldn't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require blind trust.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42032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331720"/>
            <a:ext cx="2542032" cy="54864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6517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324612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Fragmented Market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3840480"/>
            <a:ext cx="20299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gold buying in the UAE is still walk-in-store, with no standard way to verify a dealer's credentials or track record.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10712" y="2331720"/>
            <a:ext cx="2542032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10712" y="2331720"/>
            <a:ext cx="2542032" cy="54864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6744" y="26517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66744" y="324612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Opaque Pricing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3666744" y="3840480"/>
            <a:ext cx="20299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 vary shop to shop with no live reference price — buyers can't tell a fair deal from a marked-up one.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81344" y="2331720"/>
            <a:ext cx="2542032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181344" y="2331720"/>
            <a:ext cx="2542032" cy="54864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265176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37376" y="324612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Paper, Not Metal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6437376" y="3840480"/>
            <a:ext cx="20299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gold apps and bank gold accounts often sell a synthetic claim on gold, not real, allocated physical metal.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951976" y="2331720"/>
            <a:ext cx="2542032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951976" y="2331720"/>
            <a:ext cx="2542032" cy="54864"/>
          </a:xfrm>
          <a:prstGeom prst="rect">
            <a:avLst/>
          </a:prstGeom>
          <a:solidFill>
            <a:srgbClr val="C9A84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8008" y="265176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08008" y="324612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Vendors Lack Reach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9208008" y="3840480"/>
            <a:ext cx="20299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Bullion dealers have limited digital presence and no shared trust or KYC infrastructure to sell credibly online.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 CRIDORA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trusted marketplace for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real, verified bullion.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Cridora connects KYC-verified buyers directly with KYB-verified UAE bullion dealers — for transparent pricing, real allocated metal, and a guaranteed path to sell back. Cridora never takes custody of the metal itself.</a:t>
            </a:r>
            <a:endParaRPr lang="en-US" sz="1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35661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KYC / KYB Verified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188720" y="390448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buyer and every dealer is verified before they can transact.</a:t>
            </a:r>
            <a:endParaRPr lang="en-US" sz="11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50799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446227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Platform Custody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188720" y="48006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always stays with the vendor — Cridora is the trust layer, not the vault.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404104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88720" y="5358384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Transparent AED Pricing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1188720" y="569671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spot-linked pricing replaces opaque, in-store quotes.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7086600" y="2148840"/>
            <a:ext cx="4480560" cy="3977640"/>
          </a:xfrm>
          <a:prstGeom prst="rect">
            <a:avLst/>
          </a:prstGeom>
          <a:solidFill>
            <a:srgbClr val="17171A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086600" y="2148840"/>
            <a:ext cx="54864" cy="39776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7" name="Text 12"/>
          <p:cNvSpPr/>
          <p:nvPr/>
        </p:nvSpPr>
        <p:spPr>
          <a:xfrm>
            <a:off x="7360920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6000" dirty="0"/>
          </a:p>
        </p:txBody>
      </p:sp>
      <p:sp>
        <p:nvSpPr>
          <p:cNvPr id="18" name="Text 13"/>
          <p:cNvSpPr/>
          <p:nvPr/>
        </p:nvSpPr>
        <p:spPr>
          <a:xfrm>
            <a:off x="7452360" y="3063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is not a feature.</a:t>
            </a:r>
            <a:endParaRPr lang="en-US" sz="2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the foundation.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7452360" y="4434840"/>
            <a:ext cx="3794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listing is backed by a verified vendor identity, documented credentials, and a guaranteed buyback mechanism — so buyers commit with confidence.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verified buyer to real metal —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back again.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FLOW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116586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1842" y="2313432"/>
            <a:ext cx="402336" cy="402336"/>
          </a:xfrm>
          <a:prstGeom prst="ellipse">
            <a:avLst/>
          </a:prstGeom>
          <a:solidFill>
            <a:srgbClr val="0B0B0C"/>
          </a:solidFill>
          <a:ln/>
        </p:spPr>
      </p:sp>
      <p:sp>
        <p:nvSpPr>
          <p:cNvPr id="7" name="Text 5"/>
          <p:cNvSpPr/>
          <p:nvPr/>
        </p:nvSpPr>
        <p:spPr>
          <a:xfrm>
            <a:off x="1021842" y="2313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842" y="283464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3383280"/>
            <a:ext cx="8915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 KYC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3886200"/>
            <a:ext cx="891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verifies identity to unlock buying.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824228" y="3566160"/>
            <a:ext cx="192024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034540" y="2514600"/>
            <a:ext cx="116586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416302" y="2313432"/>
            <a:ext cx="402336" cy="402336"/>
          </a:xfrm>
          <a:prstGeom prst="ellipse">
            <a:avLst/>
          </a:prstGeom>
          <a:solidFill>
            <a:srgbClr val="0B0B0C"/>
          </a:solidFill>
          <a:ln/>
        </p:spPr>
      </p:sp>
      <p:sp>
        <p:nvSpPr>
          <p:cNvPr id="14" name="Text 11"/>
          <p:cNvSpPr/>
          <p:nvPr/>
        </p:nvSpPr>
        <p:spPr>
          <a:xfrm>
            <a:off x="2416302" y="2313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6302" y="283464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171700" y="3383280"/>
            <a:ext cx="8915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Compare Quotes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2171700" y="3886200"/>
            <a:ext cx="891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live vendor listings &amp; pricing.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3218688" y="3566160"/>
            <a:ext cx="192024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429000" y="2514600"/>
            <a:ext cx="116586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810762" y="2313432"/>
            <a:ext cx="402336" cy="402336"/>
          </a:xfrm>
          <a:prstGeom prst="ellipse">
            <a:avLst/>
          </a:prstGeom>
          <a:solidFill>
            <a:srgbClr val="0B0B0C"/>
          </a:solidFill>
          <a:ln/>
        </p:spPr>
      </p:sp>
      <p:sp>
        <p:nvSpPr>
          <p:cNvPr id="21" name="Text 17"/>
          <p:cNvSpPr/>
          <p:nvPr/>
        </p:nvSpPr>
        <p:spPr>
          <a:xfrm>
            <a:off x="3810762" y="2313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762" y="2834640"/>
            <a:ext cx="402336" cy="40233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566160" y="3383280"/>
            <a:ext cx="8915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 via Stripe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3566160" y="3886200"/>
            <a:ext cx="891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AED checkout, instant ledger record.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4613148" y="3566160"/>
            <a:ext cx="192024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823460" y="2514600"/>
            <a:ext cx="116586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205222" y="2313432"/>
            <a:ext cx="402336" cy="402336"/>
          </a:xfrm>
          <a:prstGeom prst="ellipse">
            <a:avLst/>
          </a:prstGeom>
          <a:solidFill>
            <a:srgbClr val="0B0B0C"/>
          </a:solidFill>
          <a:ln/>
        </p:spPr>
      </p:sp>
      <p:sp>
        <p:nvSpPr>
          <p:cNvPr id="28" name="Text 23"/>
          <p:cNvSpPr/>
          <p:nvPr/>
        </p:nvSpPr>
        <p:spPr>
          <a:xfrm>
            <a:off x="5205222" y="2313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5222" y="2834640"/>
            <a:ext cx="402336" cy="402336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4960620" y="3383280"/>
            <a:ext cx="8915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Metal Allocated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4960620" y="3886200"/>
            <a:ext cx="891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metal is allocated at the verified vendor.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626364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SELL-BACK FLOW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263640" y="2514600"/>
            <a:ext cx="116586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6645402" y="2313432"/>
            <a:ext cx="402336" cy="402336"/>
          </a:xfrm>
          <a:prstGeom prst="ellipse">
            <a:avLst/>
          </a:prstGeom>
          <a:solidFill>
            <a:srgbClr val="0B0B0C"/>
          </a:solidFill>
          <a:ln/>
        </p:spPr>
      </p:sp>
      <p:sp>
        <p:nvSpPr>
          <p:cNvPr id="35" name="Text 29"/>
          <p:cNvSpPr/>
          <p:nvPr/>
        </p:nvSpPr>
        <p:spPr>
          <a:xfrm>
            <a:off x="6645402" y="2313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5402" y="2834640"/>
            <a:ext cx="402336" cy="402336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6400800" y="3383280"/>
            <a:ext cx="8915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Live Price</a:t>
            </a:r>
            <a:endParaRPr lang="en-US" sz="1250" dirty="0"/>
          </a:p>
        </p:txBody>
      </p:sp>
      <p:sp>
        <p:nvSpPr>
          <p:cNvPr id="38" name="Text 31"/>
          <p:cNvSpPr/>
          <p:nvPr/>
        </p:nvSpPr>
        <p:spPr>
          <a:xfrm>
            <a:off x="6400800" y="3886200"/>
            <a:ext cx="891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spot-linked sell price shown.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7447788" y="3566160"/>
            <a:ext cx="192024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  <a:tailEnd type="triangle"/>
          </a:ln>
        </p:spPr>
      </p:sp>
      <p:sp>
        <p:nvSpPr>
          <p:cNvPr id="40" name="Shape 33"/>
          <p:cNvSpPr/>
          <p:nvPr/>
        </p:nvSpPr>
        <p:spPr>
          <a:xfrm>
            <a:off x="7658100" y="2514600"/>
            <a:ext cx="116586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8039862" y="2313432"/>
            <a:ext cx="402336" cy="402336"/>
          </a:xfrm>
          <a:prstGeom prst="ellipse">
            <a:avLst/>
          </a:prstGeom>
          <a:solidFill>
            <a:srgbClr val="0B0B0C"/>
          </a:solidFill>
          <a:ln/>
        </p:spPr>
      </p:sp>
      <p:sp>
        <p:nvSpPr>
          <p:cNvPr id="42" name="Text 35"/>
          <p:cNvSpPr/>
          <p:nvPr/>
        </p:nvSpPr>
        <p:spPr>
          <a:xfrm>
            <a:off x="8039862" y="2313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9862" y="2834640"/>
            <a:ext cx="402336" cy="402336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7795260" y="3383280"/>
            <a:ext cx="8915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Request Sell-Back</a:t>
            </a:r>
            <a:endParaRPr lang="en-US" sz="1250" dirty="0"/>
          </a:p>
        </p:txBody>
      </p:sp>
      <p:sp>
        <p:nvSpPr>
          <p:cNvPr id="45" name="Text 37"/>
          <p:cNvSpPr/>
          <p:nvPr/>
        </p:nvSpPr>
        <p:spPr>
          <a:xfrm>
            <a:off x="7795260" y="3886200"/>
            <a:ext cx="891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metal for buyback to original vendor.</a:t>
            </a:r>
            <a:endParaRPr lang="en-US" sz="950" dirty="0"/>
          </a:p>
        </p:txBody>
      </p:sp>
      <p:sp>
        <p:nvSpPr>
          <p:cNvPr id="46" name="Shape 38"/>
          <p:cNvSpPr/>
          <p:nvPr/>
        </p:nvSpPr>
        <p:spPr>
          <a:xfrm>
            <a:off x="8842248" y="3566160"/>
            <a:ext cx="192024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  <a:tailEnd type="triangle"/>
          </a:ln>
        </p:spPr>
      </p:sp>
      <p:sp>
        <p:nvSpPr>
          <p:cNvPr id="47" name="Shape 39"/>
          <p:cNvSpPr/>
          <p:nvPr/>
        </p:nvSpPr>
        <p:spPr>
          <a:xfrm>
            <a:off x="9052560" y="2514600"/>
            <a:ext cx="116586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9434322" y="2313432"/>
            <a:ext cx="402336" cy="402336"/>
          </a:xfrm>
          <a:prstGeom prst="ellipse">
            <a:avLst/>
          </a:prstGeom>
          <a:solidFill>
            <a:srgbClr val="0B0B0C"/>
          </a:solidFill>
          <a:ln/>
        </p:spPr>
      </p:sp>
      <p:sp>
        <p:nvSpPr>
          <p:cNvPr id="49" name="Text 41"/>
          <p:cNvSpPr/>
          <p:nvPr/>
        </p:nvSpPr>
        <p:spPr>
          <a:xfrm>
            <a:off x="9434322" y="2313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pic>
        <p:nvPicPr>
          <p:cNvPr id="5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34322" y="2834640"/>
            <a:ext cx="402336" cy="402336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9189720" y="3383280"/>
            <a:ext cx="8915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Vendor Confirms</a:t>
            </a:r>
            <a:endParaRPr lang="en-US" sz="1250" dirty="0"/>
          </a:p>
        </p:txBody>
      </p:sp>
      <p:sp>
        <p:nvSpPr>
          <p:cNvPr id="52" name="Text 43"/>
          <p:cNvSpPr/>
          <p:nvPr/>
        </p:nvSpPr>
        <p:spPr>
          <a:xfrm>
            <a:off x="9189720" y="3886200"/>
            <a:ext cx="891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reviews &amp; confirms the sell order.</a:t>
            </a:r>
            <a:endParaRPr lang="en-US" sz="950" dirty="0"/>
          </a:p>
        </p:txBody>
      </p:sp>
      <p:sp>
        <p:nvSpPr>
          <p:cNvPr id="53" name="Shape 44"/>
          <p:cNvSpPr/>
          <p:nvPr/>
        </p:nvSpPr>
        <p:spPr>
          <a:xfrm>
            <a:off x="10236708" y="3566160"/>
            <a:ext cx="192024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  <a:tailEnd type="triangle"/>
          </a:ln>
        </p:spPr>
      </p:sp>
      <p:sp>
        <p:nvSpPr>
          <p:cNvPr id="54" name="Shape 45"/>
          <p:cNvSpPr/>
          <p:nvPr/>
        </p:nvSpPr>
        <p:spPr>
          <a:xfrm>
            <a:off x="10447020" y="2514600"/>
            <a:ext cx="116586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5" name="Shape 46"/>
          <p:cNvSpPr/>
          <p:nvPr/>
        </p:nvSpPr>
        <p:spPr>
          <a:xfrm>
            <a:off x="10828782" y="2313432"/>
            <a:ext cx="402336" cy="402336"/>
          </a:xfrm>
          <a:prstGeom prst="ellipse">
            <a:avLst/>
          </a:prstGeom>
          <a:solidFill>
            <a:srgbClr val="0B0B0C"/>
          </a:solidFill>
          <a:ln/>
        </p:spPr>
      </p:sp>
      <p:sp>
        <p:nvSpPr>
          <p:cNvPr id="56" name="Text 47"/>
          <p:cNvSpPr/>
          <p:nvPr/>
        </p:nvSpPr>
        <p:spPr>
          <a:xfrm>
            <a:off x="10828782" y="2313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pic>
        <p:nvPicPr>
          <p:cNvPr id="5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8782" y="2834640"/>
            <a:ext cx="402336" cy="402336"/>
          </a:xfrm>
          <a:prstGeom prst="rect">
            <a:avLst/>
          </a:prstGeom>
        </p:spPr>
      </p:pic>
      <p:sp>
        <p:nvSpPr>
          <p:cNvPr id="58" name="Text 48"/>
          <p:cNvSpPr/>
          <p:nvPr/>
        </p:nvSpPr>
        <p:spPr>
          <a:xfrm>
            <a:off x="10584180" y="3383280"/>
            <a:ext cx="8915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 Paid Out</a:t>
            </a:r>
            <a:endParaRPr lang="en-US" sz="1250" dirty="0"/>
          </a:p>
        </p:txBody>
      </p:sp>
      <p:sp>
        <p:nvSpPr>
          <p:cNvPr id="59" name="Text 49"/>
          <p:cNvSpPr/>
          <p:nvPr/>
        </p:nvSpPr>
        <p:spPr>
          <a:xfrm>
            <a:off x="10584180" y="3886200"/>
            <a:ext cx="891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settled through platform ledger.</a:t>
            </a:r>
            <a:endParaRPr lang="en-US" sz="950" dirty="0"/>
          </a:p>
        </p:txBody>
      </p:sp>
      <p:sp>
        <p:nvSpPr>
          <p:cNvPr id="60" name="Text 5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61" name="Text 5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live marketplace with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market data.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filter listings across gold, silver, platinum, copper, and palladium — priced against live AED spot data, not guesswork.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175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70432" y="299008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Multi-Vendor Marketplace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170432" y="331012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filter listings by metal, purity, weight, and vendor — plus wishlist saved items.</a:t>
            </a:r>
            <a:endParaRPr lang="en-US" sz="10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58768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70432" y="383133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 Market Matrix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1170432" y="41513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At-a-glance live pricing grid across metals and product types.</a:t>
            </a:r>
            <a:endParaRPr lang="en-US" sz="10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00016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70432" y="467258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Spot Price Ticker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1170432" y="49926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AED spot price feed for gold, silver, copper, palladium.</a:t>
            </a:r>
            <a:endParaRPr lang="en-US" sz="10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541264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70432" y="551383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 Rates Strip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170432" y="5833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retail rates surfaced alongside live spot for context.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6903720" y="2103120"/>
            <a:ext cx="4663440" cy="4023360"/>
          </a:xfrm>
          <a:prstGeom prst="rect">
            <a:avLst/>
          </a:prstGeom>
          <a:solidFill>
            <a:srgbClr val="17171A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7178040" y="2331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SPOT PRICES (AED / g)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7040880" y="2788920"/>
            <a:ext cx="4389120" cy="548640"/>
          </a:xfrm>
          <a:prstGeom prst="rect">
            <a:avLst/>
          </a:prstGeom>
          <a:solidFill>
            <a:srgbClr val="222226"/>
          </a:solidFill>
          <a:ln/>
        </p:spPr>
      </p:sp>
      <p:sp>
        <p:nvSpPr>
          <p:cNvPr id="21" name="Text 15"/>
          <p:cNvSpPr/>
          <p:nvPr/>
        </p:nvSpPr>
        <p:spPr>
          <a:xfrm>
            <a:off x="7178040" y="286207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24K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8823960" y="28620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4CE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355.20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0104120" y="286207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3F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+0.42%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7178040" y="34838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22K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8823960" y="348386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4CE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325.60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10104120" y="34838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3F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+0.38%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7040880" y="4032504"/>
            <a:ext cx="4389120" cy="548640"/>
          </a:xfrm>
          <a:prstGeom prst="rect">
            <a:avLst/>
          </a:prstGeom>
          <a:solidFill>
            <a:srgbClr val="222226"/>
          </a:solidFill>
          <a:ln/>
        </p:spPr>
      </p:sp>
      <p:sp>
        <p:nvSpPr>
          <p:cNvPr id="28" name="Text 22"/>
          <p:cNvSpPr/>
          <p:nvPr/>
        </p:nvSpPr>
        <p:spPr>
          <a:xfrm>
            <a:off x="7178040" y="410565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8823960" y="410565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4CE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4.18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10104120" y="410565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C05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-0.12%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7178040" y="472744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Platinum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8823960" y="47274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4CE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112.75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10104120" y="472744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3F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+0.65%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7040880" y="5276088"/>
            <a:ext cx="4389120" cy="548640"/>
          </a:xfrm>
          <a:prstGeom prst="rect">
            <a:avLst/>
          </a:prstGeom>
          <a:solidFill>
            <a:srgbClr val="222226"/>
          </a:solidFill>
          <a:ln/>
        </p:spPr>
      </p:sp>
      <p:sp>
        <p:nvSpPr>
          <p:cNvPr id="35" name="Text 29"/>
          <p:cNvSpPr/>
          <p:nvPr/>
        </p:nvSpPr>
        <p:spPr>
          <a:xfrm>
            <a:off x="7178040" y="534924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Palladium</a:t>
            </a:r>
            <a:endParaRPr lang="en-US" sz="1250" dirty="0"/>
          </a:p>
        </p:txBody>
      </p:sp>
      <p:sp>
        <p:nvSpPr>
          <p:cNvPr id="36" name="Text 30"/>
          <p:cNvSpPr/>
          <p:nvPr/>
        </p:nvSpPr>
        <p:spPr>
          <a:xfrm>
            <a:off x="8823960" y="534924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4CE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98.30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0104120" y="534924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C05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-0.28%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39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platform, three purpose-built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 centers.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39496" y="2286000"/>
            <a:ext cx="352044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39496" y="2286000"/>
            <a:ext cx="3520440" cy="777240"/>
          </a:xfrm>
          <a:prstGeom prst="rect">
            <a:avLst/>
          </a:prstGeom>
          <a:solidFill>
            <a:srgbClr val="0B0B0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246888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16736" y="228600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Dashboard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3337560"/>
            <a:ext cx="201168" cy="2011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06424" y="328269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&amp; purchase history</a:t>
            </a:r>
            <a:endParaRPr lang="en-US" sz="11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3904488"/>
            <a:ext cx="201168" cy="20116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06424" y="384962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portfolio value</a:t>
            </a:r>
            <a:endParaRPr lang="en-US" sz="11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4471416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06424" y="441655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Sell-back status tracking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4334256" y="2286000"/>
            <a:ext cx="352044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4334256" y="2286000"/>
            <a:ext cx="3520440" cy="777240"/>
          </a:xfrm>
          <a:prstGeom prst="rect">
            <a:avLst/>
          </a:prstGeom>
          <a:solidFill>
            <a:srgbClr val="0B0B0C"/>
          </a:solidFill>
          <a:ln/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2468880"/>
            <a:ext cx="384048" cy="38404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111496" y="228600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Vendor Dashboard</a:t>
            </a:r>
            <a:endParaRPr lang="en-US" sz="15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3337560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4901184" y="328269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&amp; pricing management</a:t>
            </a:r>
            <a:endParaRPr lang="en-US" sz="115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3904488"/>
            <a:ext cx="201168" cy="20116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4901184" y="384962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“Live Sales Desk”</a:t>
            </a:r>
            <a:endParaRPr lang="en-US" sz="115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4471416"/>
            <a:ext cx="201168" cy="20116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4901184" y="441655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EOD ledger &amp; PDF exports</a:t>
            </a:r>
            <a:endParaRPr lang="en-US" sz="115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5038344"/>
            <a:ext cx="201168" cy="20116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4901184" y="4983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&amp; bank payouts</a:t>
            </a:r>
            <a:endParaRPr lang="en-US" sz="1150" dirty="0"/>
          </a:p>
        </p:txBody>
      </p:sp>
      <p:sp>
        <p:nvSpPr>
          <p:cNvPr id="26" name="Shape 15"/>
          <p:cNvSpPr/>
          <p:nvPr/>
        </p:nvSpPr>
        <p:spPr>
          <a:xfrm>
            <a:off x="8129016" y="2286000"/>
            <a:ext cx="352044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16"/>
          <p:cNvSpPr/>
          <p:nvPr/>
        </p:nvSpPr>
        <p:spPr>
          <a:xfrm>
            <a:off x="8129016" y="2286000"/>
            <a:ext cx="3520440" cy="777240"/>
          </a:xfrm>
          <a:prstGeom prst="rect">
            <a:avLst/>
          </a:prstGeom>
          <a:solidFill>
            <a:srgbClr val="0B0B0C"/>
          </a:solidFill>
          <a:ln/>
        </p:spPr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048" y="2468880"/>
            <a:ext cx="384048" cy="384048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8906256" y="228600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Dashboard</a:t>
            </a:r>
            <a:endParaRPr lang="en-US" sz="1500" dirty="0"/>
          </a:p>
        </p:txBody>
      </p:sp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048" y="3337560"/>
            <a:ext cx="201168" cy="201168"/>
          </a:xfrm>
          <a:prstGeom prst="rect">
            <a:avLst/>
          </a:prstGeom>
        </p:spPr>
      </p:pic>
      <p:sp>
        <p:nvSpPr>
          <p:cNvPr id="31" name="Text 18"/>
          <p:cNvSpPr/>
          <p:nvPr/>
        </p:nvSpPr>
        <p:spPr>
          <a:xfrm>
            <a:off x="8695944" y="328269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/ KYB review queues</a:t>
            </a:r>
            <a:endParaRPr lang="en-US" sz="115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048" y="3904488"/>
            <a:ext cx="201168" cy="201168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8695944" y="384962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&amp; cross-payment oversight</a:t>
            </a:r>
            <a:endParaRPr lang="en-US" sz="1150" dirty="0"/>
          </a:p>
        </p:txBody>
      </p:sp>
      <p:pic>
        <p:nvPicPr>
          <p:cNvPr id="34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048" y="4471416"/>
            <a:ext cx="201168" cy="201168"/>
          </a:xfrm>
          <a:prstGeom prst="rect">
            <a:avLst/>
          </a:prstGeom>
        </p:spPr>
      </p:pic>
      <p:sp>
        <p:nvSpPr>
          <p:cNvPr id="35" name="Text 20"/>
          <p:cNvSpPr/>
          <p:nvPr/>
        </p:nvSpPr>
        <p:spPr>
          <a:xfrm>
            <a:off x="8695944" y="441655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&amp; fee configuration</a:t>
            </a:r>
            <a:endParaRPr lang="en-US" sz="1150" dirty="0"/>
          </a:p>
        </p:txBody>
      </p:sp>
      <p:sp>
        <p:nvSpPr>
          <p:cNvPr id="36" name="Text 21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37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UAE Digital Gold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Tool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calculator that shows prospective buyers, side by side, how Cridora's transparent fees compare to illustrative composite fee models for UAE bank gold accounts, digital gold apps, and retail jewellers.</a:t>
            </a:r>
            <a:endParaRPr lang="en-US" sz="13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74904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3694176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trust through radical fee transparency, before a buyer even signs up.</a:t>
            </a:r>
            <a:endParaRPr lang="en-US" sz="1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40740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435254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as an organic lead-generation and SEO asset for acquisition.</a:t>
            </a:r>
            <a:endParaRPr lang="en-US" sz="12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6577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51560" y="501091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Reframes the buying decision around real, allocated metal — not just price.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6720840" y="2148840"/>
            <a:ext cx="4846320" cy="3977640"/>
          </a:xfrm>
          <a:prstGeom prst="rect">
            <a:avLst/>
          </a:prstGeom>
          <a:solidFill>
            <a:srgbClr val="17171A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995160" y="23774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COST TO OWN (ILLUSTRATIVE)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995160" y="29260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Cridora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8686800" y="2980944"/>
            <a:ext cx="2468880" cy="256032"/>
          </a:xfrm>
          <a:prstGeom prst="rect">
            <a:avLst/>
          </a:prstGeom>
          <a:solidFill>
            <a:srgbClr val="222226"/>
          </a:solidFill>
          <a:ln/>
        </p:spPr>
      </p:sp>
      <p:sp>
        <p:nvSpPr>
          <p:cNvPr id="16" name="Shape 11"/>
          <p:cNvSpPr/>
          <p:nvPr/>
        </p:nvSpPr>
        <p:spPr>
          <a:xfrm>
            <a:off x="8686800" y="2980944"/>
            <a:ext cx="796413" cy="25603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7" name="Text 12"/>
          <p:cNvSpPr/>
          <p:nvPr/>
        </p:nvSpPr>
        <p:spPr>
          <a:xfrm>
            <a:off x="6995160" y="35478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Gold Account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8686800" y="3602736"/>
            <a:ext cx="2468880" cy="256032"/>
          </a:xfrm>
          <a:prstGeom prst="rect">
            <a:avLst/>
          </a:prstGeom>
          <a:solidFill>
            <a:srgbClr val="222226"/>
          </a:solidFill>
          <a:ln/>
        </p:spPr>
      </p:sp>
      <p:sp>
        <p:nvSpPr>
          <p:cNvPr id="19" name="Shape 14"/>
          <p:cNvSpPr/>
          <p:nvPr/>
        </p:nvSpPr>
        <p:spPr>
          <a:xfrm>
            <a:off x="8686800" y="3602736"/>
            <a:ext cx="2070674" cy="256032"/>
          </a:xfrm>
          <a:prstGeom prst="rect">
            <a:avLst/>
          </a:prstGeom>
          <a:solidFill>
            <a:srgbClr val="C7C4BA"/>
          </a:solidFill>
          <a:ln/>
        </p:spPr>
      </p:sp>
      <p:sp>
        <p:nvSpPr>
          <p:cNvPr id="20" name="Text 15"/>
          <p:cNvSpPr/>
          <p:nvPr/>
        </p:nvSpPr>
        <p:spPr>
          <a:xfrm>
            <a:off x="6995160" y="416966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Gold App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8686800" y="4224528"/>
            <a:ext cx="2468880" cy="256032"/>
          </a:xfrm>
          <a:prstGeom prst="rect">
            <a:avLst/>
          </a:prstGeom>
          <a:solidFill>
            <a:srgbClr val="222226"/>
          </a:solidFill>
          <a:ln/>
        </p:spPr>
      </p:sp>
      <p:sp>
        <p:nvSpPr>
          <p:cNvPr id="22" name="Shape 17"/>
          <p:cNvSpPr/>
          <p:nvPr/>
        </p:nvSpPr>
        <p:spPr>
          <a:xfrm>
            <a:off x="8686800" y="4224528"/>
            <a:ext cx="1752108" cy="256032"/>
          </a:xfrm>
          <a:prstGeom prst="rect">
            <a:avLst/>
          </a:prstGeom>
          <a:solidFill>
            <a:srgbClr val="C7C4BA"/>
          </a:solidFill>
          <a:ln/>
        </p:spPr>
      </p:sp>
      <p:sp>
        <p:nvSpPr>
          <p:cNvPr id="23" name="Text 18"/>
          <p:cNvSpPr/>
          <p:nvPr/>
        </p:nvSpPr>
        <p:spPr>
          <a:xfrm>
            <a:off x="6995160" y="479145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Jeweller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8686800" y="4846320"/>
            <a:ext cx="2468880" cy="256032"/>
          </a:xfrm>
          <a:prstGeom prst="rect">
            <a:avLst/>
          </a:prstGeom>
          <a:solidFill>
            <a:srgbClr val="222226"/>
          </a:solidFill>
          <a:ln/>
        </p:spPr>
      </p:sp>
      <p:sp>
        <p:nvSpPr>
          <p:cNvPr id="25" name="Shape 20"/>
          <p:cNvSpPr/>
          <p:nvPr/>
        </p:nvSpPr>
        <p:spPr>
          <a:xfrm>
            <a:off x="8686800" y="4846320"/>
            <a:ext cx="2468880" cy="256032"/>
          </a:xfrm>
          <a:prstGeom prst="rect">
            <a:avLst/>
          </a:prstGeom>
          <a:solidFill>
            <a:srgbClr val="C7C4BA"/>
          </a:solidFill>
          <a:ln/>
        </p:spPr>
      </p:sp>
      <p:sp>
        <p:nvSpPr>
          <p:cNvPr id="26" name="Text 21"/>
          <p:cNvSpPr/>
          <p:nvPr/>
        </p:nvSpPr>
        <p:spPr>
          <a:xfrm>
            <a:off x="6995160" y="5577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composite fee models — not offers from named brands.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 — CUSTOMERS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buyers choose Cridora.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4924" y="2011680"/>
            <a:ext cx="2084832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57300" y="2286000"/>
            <a:ext cx="640080" cy="640080"/>
          </a:xfrm>
          <a:prstGeom prst="ellipse">
            <a:avLst/>
          </a:prstGeom>
          <a:solidFill>
            <a:srgbClr val="0B0B0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04" y="24323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2084" y="315468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Verified Dealers Only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" y="38862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is KYB-checked — no more guessing about legitimacy.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793492" y="2011680"/>
            <a:ext cx="2084832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15868" y="2286000"/>
            <a:ext cx="640080" cy="640080"/>
          </a:xfrm>
          <a:prstGeom prst="ellipse">
            <a:avLst/>
          </a:prstGeom>
          <a:solidFill>
            <a:srgbClr val="0B0B0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2172" y="243230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30652" y="315468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Transparent AED Pricing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958084" y="38862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pricing replaces opaque, in-store quotes.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52060" y="2011680"/>
            <a:ext cx="2084832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774436" y="2286000"/>
            <a:ext cx="640080" cy="640080"/>
          </a:xfrm>
          <a:prstGeom prst="ellipse">
            <a:avLst/>
          </a:prstGeom>
          <a:solidFill>
            <a:srgbClr val="0B0B0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0740" y="2432304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89220" y="315468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Real, Allocated Metal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216652" y="38862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ownership — not a paper or synthetic claim.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7310628" y="2011680"/>
            <a:ext cx="2084832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033004" y="2286000"/>
            <a:ext cx="640080" cy="640080"/>
          </a:xfrm>
          <a:prstGeom prst="ellipse">
            <a:avLst/>
          </a:prstGeom>
          <a:solidFill>
            <a:srgbClr val="0B0B0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08" y="2432304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47788" y="315468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Guaranteed Buyback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7475220" y="38862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clear, price-transparent path to sell back to the vendor.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9569196" y="2011680"/>
            <a:ext cx="2084832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10291572" y="2286000"/>
            <a:ext cx="640080" cy="640080"/>
          </a:xfrm>
          <a:prstGeom prst="ellipse">
            <a:avLst/>
          </a:prstGeom>
          <a:solidFill>
            <a:srgbClr val="0B0B0C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7876" y="2432304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706356" y="315468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 From Anywhere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9733788" y="38862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buyers, metal held securely with a UAE-licensed dealer.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 — VENDORS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bullion dealers partner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Cridora.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42032" cy="2926080"/>
          </a:xfrm>
          <a:prstGeom prst="rect">
            <a:avLst/>
          </a:prstGeom>
          <a:solidFill>
            <a:srgbClr val="17171A"/>
          </a:solidFill>
          <a:ln w="6350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468880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306324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Expanded Buyer Reach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96112" y="365760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 growing pool of verified buyers without spending on independent advertising.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410712" y="2194560"/>
            <a:ext cx="2542032" cy="2926080"/>
          </a:xfrm>
          <a:prstGeom prst="rect">
            <a:avLst/>
          </a:prstGeom>
          <a:solidFill>
            <a:srgbClr val="17171A"/>
          </a:solidFill>
          <a:ln w="6350">
            <a:solidFill>
              <a:srgbClr val="C9A84C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6744" y="2468880"/>
            <a:ext cx="420624" cy="4206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66744" y="306324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Trust Layer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666744" y="365760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into a ready-made KYC/KYB layer instead of building compliance infrastructure alone.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181344" y="2194560"/>
            <a:ext cx="2542032" cy="2926080"/>
          </a:xfrm>
          <a:prstGeom prst="rect">
            <a:avLst/>
          </a:prstGeom>
          <a:solidFill>
            <a:srgbClr val="17171A"/>
          </a:solidFill>
          <a:ln w="6350">
            <a:solidFill>
              <a:srgbClr val="C9A84C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2468880"/>
            <a:ext cx="420624" cy="42062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37376" y="306324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Guaranteed Liquidity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437376" y="365760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platform-supported sell-back mechanism gives vendors a reliable liquidity partner.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8951976" y="2194560"/>
            <a:ext cx="2542032" cy="2926080"/>
          </a:xfrm>
          <a:prstGeom prst="rect">
            <a:avLst/>
          </a:prstGeom>
          <a:solidFill>
            <a:srgbClr val="17171A"/>
          </a:solidFill>
          <a:ln w="6350">
            <a:solidFill>
              <a:srgbClr val="C9A84C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8008" y="2468880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08008" y="306324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Sales Desk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9208008" y="365760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catalog, pricing, and daily settlement from one operational dashboard.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40080" y="5440680"/>
            <a:ext cx="10881360" cy="0"/>
          </a:xfrm>
          <a:prstGeom prst="line">
            <a:avLst/>
          </a:prstGeom>
          <a:noFill/>
          <a:ln w="12700">
            <a:solidFill>
              <a:srgbClr val="222226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E4CE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“Having an app is useful, but being part of a trusted digital ecosystem is far more powerful.”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commission-based marketplace —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inventory risk.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Cridora earns transaction fees on both sides of the trade, plus a small share of vendor liquidity — without ever holding metal inventory or taking custody risk.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39496" y="2788920"/>
            <a:ext cx="3520440" cy="2194560"/>
          </a:xfrm>
          <a:prstGeom prst="rect">
            <a:avLst/>
          </a:prstGeom>
          <a:solidFill>
            <a:srgbClr val="0B0B0C"/>
          </a:solidFill>
          <a:ln/>
        </p:spPr>
      </p:sp>
      <p:sp>
        <p:nvSpPr>
          <p:cNvPr id="6" name="Shape 4"/>
          <p:cNvSpPr/>
          <p:nvPr/>
        </p:nvSpPr>
        <p:spPr>
          <a:xfrm>
            <a:off x="539496" y="2788920"/>
            <a:ext cx="352044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7" name="Text 5"/>
          <p:cNvSpPr/>
          <p:nvPr/>
        </p:nvSpPr>
        <p:spPr>
          <a:xfrm>
            <a:off x="813816" y="29718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13816" y="37033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Buy-Side Fee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3816" y="4069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 on every completed buy order.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34256" y="2788920"/>
            <a:ext cx="3520440" cy="2194560"/>
          </a:xfrm>
          <a:prstGeom prst="rect">
            <a:avLst/>
          </a:prstGeom>
          <a:solidFill>
            <a:srgbClr val="0B0B0C"/>
          </a:solidFill>
          <a:ln/>
        </p:spPr>
      </p:sp>
      <p:sp>
        <p:nvSpPr>
          <p:cNvPr id="11" name="Shape 9"/>
          <p:cNvSpPr/>
          <p:nvPr/>
        </p:nvSpPr>
        <p:spPr>
          <a:xfrm>
            <a:off x="4334256" y="2788920"/>
            <a:ext cx="352044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2" name="Text 10"/>
          <p:cNvSpPr/>
          <p:nvPr/>
        </p:nvSpPr>
        <p:spPr>
          <a:xfrm>
            <a:off x="4608576" y="29718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608576" y="37033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Sell-Back Fee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08576" y="4069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 on every guaranteed sell-back order.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29016" y="2788920"/>
            <a:ext cx="3520440" cy="2194560"/>
          </a:xfrm>
          <a:prstGeom prst="rect">
            <a:avLst/>
          </a:prstGeom>
          <a:solidFill>
            <a:srgbClr val="0B0B0C"/>
          </a:solidFill>
          <a:ln/>
        </p:spPr>
      </p:sp>
      <p:sp>
        <p:nvSpPr>
          <p:cNvPr id="16" name="Shape 14"/>
          <p:cNvSpPr/>
          <p:nvPr/>
        </p:nvSpPr>
        <p:spPr>
          <a:xfrm>
            <a:off x="8129016" y="2788920"/>
            <a:ext cx="352044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7" name="Text 15"/>
          <p:cNvSpPr/>
          <p:nvPr/>
        </p:nvSpPr>
        <p:spPr>
          <a:xfrm>
            <a:off x="8403336" y="29718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403336" y="37033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Vendor Net Share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03336" y="4069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share of each vendor's positive daily net position, retained for sell-back liquidity.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(EOD) settlement mechanics support guaranteed sell-back liquidity — Cridora is the trust and settlement layer, never the custodian.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MARKET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Anchored in the UAE.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global reach.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Cridora's vendor network is UAE-based and UAE-licensed — but buyers can purchase and hold metal from anywhere in the world.</a:t>
            </a:r>
            <a:endParaRPr lang="en-US" sz="13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70432" y="3127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UAE Bullion Vendors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170432" y="344728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dealers seeking digital distribution &amp; shared trust infrastructure.</a:t>
            </a:r>
            <a:endParaRPr lang="en-US" sz="10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050792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70432" y="4023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UAE-Based Buyers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1170432" y="43434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and investors buying and storing metal locally.</a:t>
            </a:r>
            <a:endParaRPr lang="en-US" sz="10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946904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70432" y="49194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Investors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1170432" y="523951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buyers from India, Pakistan, Europe, the UK, and the US, seeking UAE-held physical metal.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720840" y="2148840"/>
            <a:ext cx="4846320" cy="3977640"/>
          </a:xfrm>
          <a:prstGeom prst="rect">
            <a:avLst/>
          </a:prstGeom>
          <a:solidFill>
            <a:srgbClr val="17171A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995160" y="24048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ORIGIN MARKETS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641080" y="2926080"/>
            <a:ext cx="1005840" cy="100584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18" name="Text 13"/>
          <p:cNvSpPr/>
          <p:nvPr/>
        </p:nvSpPr>
        <p:spPr>
          <a:xfrm>
            <a:off x="8641080" y="29260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UAE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7040880" y="4206240"/>
            <a:ext cx="772668" cy="438912"/>
          </a:xfrm>
          <a:prstGeom prst="rect">
            <a:avLst/>
          </a:prstGeom>
          <a:solidFill>
            <a:srgbClr val="222226"/>
          </a:solidFill>
          <a:ln w="6350">
            <a:solidFill>
              <a:srgbClr val="C9A84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040880" y="4206240"/>
            <a:ext cx="7726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996428" y="4206240"/>
            <a:ext cx="1060704" cy="438912"/>
          </a:xfrm>
          <a:prstGeom prst="rect">
            <a:avLst/>
          </a:prstGeom>
          <a:solidFill>
            <a:srgbClr val="222226"/>
          </a:solidFill>
          <a:ln w="6350">
            <a:solidFill>
              <a:srgbClr val="C9A84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7996428" y="420624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Pakistan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9240012" y="4206240"/>
            <a:ext cx="868680" cy="438912"/>
          </a:xfrm>
          <a:prstGeom prst="rect">
            <a:avLst/>
          </a:prstGeom>
          <a:solidFill>
            <a:srgbClr val="222226"/>
          </a:solidFill>
          <a:ln w="6350">
            <a:solidFill>
              <a:srgbClr val="C9A84C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9240012" y="4206240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7040880" y="4773168"/>
            <a:ext cx="1636776" cy="438912"/>
          </a:xfrm>
          <a:prstGeom prst="rect">
            <a:avLst/>
          </a:prstGeom>
          <a:solidFill>
            <a:srgbClr val="222226"/>
          </a:solidFill>
          <a:ln w="6350">
            <a:solidFill>
              <a:srgbClr val="C9A84C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7040880" y="4773168"/>
            <a:ext cx="1636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Kingdom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860536" y="4773168"/>
            <a:ext cx="1540764" cy="438912"/>
          </a:xfrm>
          <a:prstGeom prst="rect">
            <a:avLst/>
          </a:prstGeom>
          <a:solidFill>
            <a:srgbClr val="222226"/>
          </a:solidFill>
          <a:ln w="6350">
            <a:solidFill>
              <a:srgbClr val="C9A84C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860536" y="4773168"/>
            <a:ext cx="15407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scale, security,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compliance from day one.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42032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606040"/>
            <a:ext cx="502920" cy="502920"/>
          </a:xfrm>
          <a:prstGeom prst="ellipse">
            <a:avLst/>
          </a:prstGeom>
          <a:solidFill>
            <a:srgbClr val="0B0B0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15768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329184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96112" y="3703320"/>
            <a:ext cx="20299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 Framework, JWT authentication, PostgreSQL database.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410712" y="2331720"/>
            <a:ext cx="2542032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66744" y="2606040"/>
            <a:ext cx="502920" cy="502920"/>
          </a:xfrm>
          <a:prstGeom prst="ellipse">
            <a:avLst/>
          </a:prstGeom>
          <a:solidFill>
            <a:srgbClr val="0B0B0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6472" y="2715768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66744" y="329184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Payments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666744" y="3703320"/>
            <a:ext cx="20299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Checkout integration for secure AED transactions.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81344" y="2331720"/>
            <a:ext cx="2542032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37376" y="2606040"/>
            <a:ext cx="502920" cy="502920"/>
          </a:xfrm>
          <a:prstGeom prst="ellipse">
            <a:avLst/>
          </a:prstGeom>
          <a:solidFill>
            <a:srgbClr val="0B0B0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715768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37376" y="329184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37376" y="3703320"/>
            <a:ext cx="20299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Vite, Tailwind CSS — fast, modern, installable as a PWA.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8951976" y="2331720"/>
            <a:ext cx="2542032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08008" y="2606040"/>
            <a:ext cx="502920" cy="502920"/>
          </a:xfrm>
          <a:prstGeom prst="ellipse">
            <a:avLst/>
          </a:prstGeom>
          <a:solidFill>
            <a:srgbClr val="0B0B0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7736" y="2715768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08008" y="329184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0B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208008" y="3703320"/>
            <a:ext cx="20299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Cloud-hosted on Railway, containerized for reliable, repeatable releases.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Cridora compares.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4709159"/>
        </p:xfrm>
        <a:graphic>
          <a:graphicData uri="http://schemas.openxmlformats.org/drawingml/2006/table">
            <a:tbl>
              <a:tblPr/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7273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0B0B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Cridora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Gold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Gold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Jewellers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273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Real, allocated physical metal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B0B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FA6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273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Transparent, live pricing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B0B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73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dealer / KYB 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B0B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73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Guaranteed sell-back 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B0B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273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Multi-vendor price competition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B0B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7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273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platform custody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B0B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FA6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FA6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011680"/>
            <a:ext cx="5029200" cy="5029200"/>
          </a:xfrm>
          <a:prstGeom prst="ellipse">
            <a:avLst/>
          </a:prstGeom>
          <a:solidFill>
            <a:srgbClr val="17171A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4114800"/>
            <a:ext cx="5029200" cy="5029200"/>
          </a:xfrm>
          <a:prstGeom prst="ellipse">
            <a:avLst/>
          </a:prstGeom>
          <a:solidFill>
            <a:srgbClr val="17171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THE FUTURE OF BULLION, TOGETHER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 with Cridora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you're a bullion vendor seeking digital reach, or an investor backing the trust layer for real precious metals ownership — the opportunity starts here.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4114800"/>
            <a:ext cx="2651760" cy="594360"/>
          </a:xfrm>
          <a:prstGeom prst="rect">
            <a:avLst/>
          </a:prstGeom>
          <a:solidFill>
            <a:srgbClr val="17171A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1148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4C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a Vendor Partner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49040" y="4114800"/>
            <a:ext cx="2651760" cy="594360"/>
          </a:xfrm>
          <a:prstGeom prst="rect">
            <a:avLst/>
          </a:prstGeom>
          <a:solidFill>
            <a:srgbClr val="17171A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41148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4C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Investment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75120" y="4114800"/>
            <a:ext cx="2651760" cy="594360"/>
          </a:xfrm>
          <a:prstGeom prst="rect">
            <a:avLst/>
          </a:prstGeom>
          <a:solidFill>
            <a:srgbClr val="17171A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41148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4C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Demo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5349240"/>
            <a:ext cx="7772400" cy="0"/>
          </a:xfrm>
          <a:prstGeom prst="line">
            <a:avLst/>
          </a:prstGeom>
          <a:noFill/>
          <a:ln w="12700">
            <a:solidFill>
              <a:srgbClr val="2222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532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Cridora  |  </a:t>
            </a:r>
            <a:r>
              <a:rPr lang="en-US" sz="1200" dirty="0">
                <a:solidFill>
                  <a:srgbClr val="C7C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partnerships@cridora.com  |  UAE Bullion Marketplace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CRIDORA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1261</Words>
  <Application>Microsoft Office PowerPoint</Application>
  <PresentationFormat>Widescreen</PresentationFormat>
  <Paragraphs>268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Cridora — Business Proposal</dc:title>
  <dc:subject>PptxGenJS Presentation</dc:subject>
  <dc:creator>Cridora</dc:creator>
  <cp:lastModifiedBy>Lagari A</cp:lastModifiedBy>
  <cp:revision>2</cp:revision>
  <dcterms:created xsi:type="dcterms:W3CDTF">2026-07-15T17:47:45Z</dcterms:created>
  <dcterms:modified xsi:type="dcterms:W3CDTF">2026-07-15T17:57:46Z</dcterms:modified>
</cp:coreProperties>
</file>